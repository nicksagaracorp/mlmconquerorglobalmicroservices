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0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1737360"/>
            <a:ext cx="82296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C9A03A"/>
                </a:solidFill>
                <a:latin typeface="Calibri"/>
              </a:rPr>
              <a:t>ESTADO DE DESARROLLO  ·  SEGURIDAD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148840"/>
            <a:ext cx="100584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600" b="1">
                <a:solidFill>
                  <a:srgbClr val="FFFFFF"/>
                </a:solidFill>
                <a:latin typeface="Georgia"/>
              </a:rPr>
              <a:t>Autenticación de dos factores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3200400"/>
            <a:ext cx="96012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0">
                <a:solidFill>
                  <a:srgbClr val="C8D0E8"/>
                </a:solidFill>
                <a:latin typeface="Calibri"/>
              </a:rPr>
              <a:t>Prerrequisitos de seguridad, núcleo de verificación por tres canales,</a:t>
            </a:r>
          </a:p>
          <a:p>
            <a:pPr algn="l">
              <a:spcAft>
                <a:spcPts val="600"/>
              </a:spcAft>
            </a:pPr>
            <a:r>
              <a:rPr sz="1600" b="0">
                <a:solidFill>
                  <a:srgbClr val="C8D0E8"/>
                </a:solidFill>
                <a:latin typeface="Calibri"/>
              </a:rPr>
              <a:t>y login con dos factores en el portal de administración.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4343400"/>
            <a:ext cx="1280160" cy="45720"/>
          </a:xfrm>
          <a:prstGeom prst="rect">
            <a:avLst/>
          </a:prstGeom>
          <a:solidFill>
            <a:srgbClr val="C9A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4617720"/>
            <a:ext cx="82296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9AA6C8"/>
                </a:solidFill>
                <a:latin typeface="Calibri"/>
              </a:rPr>
              <a:t>2026-08-28  ·  20 commits en master  ·  1.565 pruebas automatizadas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6D7282"/>
                </a:solidFill>
                <a:latin typeface="Calibri"/>
              </a:rPr>
              <a:t>MLMConqueror Global Edition  ·  Seguridad y 2FA  ·  2026-08-28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64240" y="6446520"/>
            <a:ext cx="548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6D7282"/>
                </a:solidFill>
                <a:latin typeface="Calibri"/>
              </a:rPr>
              <a:t>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1148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A07A1F"/>
                </a:solidFill>
                <a:latin typeface="Calibri"/>
              </a:rPr>
              <a:t>RESUMEN EJECUTIVO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85800"/>
            <a:ext cx="1106424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>
                <a:solidFill>
                  <a:srgbClr val="141B4D"/>
                </a:solidFill>
                <a:latin typeface="Georgia"/>
              </a:rPr>
              <a:t>Qué se construyó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691640"/>
            <a:ext cx="2651760" cy="13716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DDC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1892808"/>
            <a:ext cx="265176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3400" b="1">
                <a:solidFill>
                  <a:srgbClr val="B3261A"/>
                </a:solidFill>
                <a:latin typeface="Georgia"/>
              </a:rPr>
              <a:t>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2587752"/>
            <a:ext cx="23774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0">
                <a:solidFill>
                  <a:srgbClr val="6D7282"/>
                </a:solidFill>
                <a:latin typeface="Calibri"/>
              </a:rPr>
              <a:t>bugs de autenticación</a:t>
            </a:r>
          </a:p>
          <a:p>
            <a:pPr algn="ctr"/>
            <a:r>
              <a:rPr sz="1100" b="0">
                <a:solidFill>
                  <a:srgbClr val="6D7282"/>
                </a:solidFill>
                <a:latin typeface="Calibri"/>
              </a:rPr>
              <a:t>vivos, encontrados y cerrados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429000" y="1691640"/>
            <a:ext cx="2651760" cy="13716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DDC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429000" y="1892808"/>
            <a:ext cx="265176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3400" b="1">
                <a:solidFill>
                  <a:srgbClr val="2E7D32"/>
                </a:solidFill>
                <a:latin typeface="Georgia"/>
              </a:rPr>
              <a:t>1.565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66160" y="2587752"/>
            <a:ext cx="23774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0">
                <a:solidFill>
                  <a:srgbClr val="6D7282"/>
                </a:solidFill>
                <a:latin typeface="Calibri"/>
              </a:rPr>
              <a:t>pruebas automatizadas</a:t>
            </a:r>
          </a:p>
          <a:p>
            <a:pPr algn="ctr"/>
            <a:r>
              <a:rPr sz="1100" b="0">
                <a:solidFill>
                  <a:srgbClr val="6D7282"/>
                </a:solidFill>
                <a:latin typeface="Calibri"/>
              </a:rPr>
              <a:t>en verde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309360" y="1691640"/>
            <a:ext cx="2651760" cy="13716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DDC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09360" y="1892808"/>
            <a:ext cx="265176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3400" b="1">
                <a:solidFill>
                  <a:srgbClr val="141B4D"/>
                </a:solidFill>
                <a:latin typeface="Georgia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46520" y="2587752"/>
            <a:ext cx="23774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0">
                <a:solidFill>
                  <a:srgbClr val="6D7282"/>
                </a:solidFill>
                <a:latin typeface="Calibri"/>
              </a:rPr>
              <a:t>canales de verificación</a:t>
            </a:r>
          </a:p>
          <a:p>
            <a:pPr algn="ctr"/>
            <a:r>
              <a:rPr sz="1100" b="0">
                <a:solidFill>
                  <a:srgbClr val="6D7282"/>
                </a:solidFill>
                <a:latin typeface="Calibri"/>
              </a:rPr>
              <a:t>app, correo y SMS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189720" y="1691640"/>
            <a:ext cx="2468880" cy="13716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DDC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189720" y="1892808"/>
            <a:ext cx="246888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3400" b="1">
                <a:solidFill>
                  <a:srgbClr val="A07A1F"/>
                </a:solidFill>
                <a:latin typeface="Georgia"/>
              </a:rPr>
              <a:t>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326880" y="2587752"/>
            <a:ext cx="21945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0">
                <a:solidFill>
                  <a:srgbClr val="6D7282"/>
                </a:solidFill>
                <a:latin typeface="Calibri"/>
              </a:rPr>
              <a:t>cambios visibles</a:t>
            </a:r>
          </a:p>
          <a:p>
            <a:pPr algn="ctr"/>
            <a:r>
              <a:rPr sz="1100" b="0">
                <a:solidFill>
                  <a:srgbClr val="6D7282"/>
                </a:solidFill>
                <a:latin typeface="Calibri"/>
              </a:rPr>
              <a:t>para los usuarios hoy</a:t>
            </a:r>
          </a:p>
        </p:txBody>
      </p:sp>
      <p:sp>
        <p:nvSpPr>
          <p:cNvPr id="19" name="Oval 18"/>
          <p:cNvSpPr/>
          <p:nvPr/>
        </p:nvSpPr>
        <p:spPr>
          <a:xfrm>
            <a:off x="548640" y="3502152"/>
            <a:ext cx="146304" cy="146304"/>
          </a:xfrm>
          <a:prstGeom prst="ellipse">
            <a:avLst/>
          </a:prstGeom>
          <a:solidFill>
            <a:srgbClr val="141B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59536" y="3429000"/>
            <a:ext cx="10753344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141B4D"/>
                </a:solidFill>
                <a:latin typeface="Calibri"/>
              </a:rPr>
              <a:t>Prerrequisitos de seguridad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59536" y="3703320"/>
            <a:ext cx="10753344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0">
                <a:solidFill>
                  <a:srgbClr val="2B2D33"/>
                </a:solidFill>
                <a:latin typeface="Calibri"/>
              </a:rPr>
              <a:t>La llave privada que firma todos los tokens estaba en el repositorio: cualquiera con acceso podía firmar un token de administrador sin contraseña. Rotada, y el sistema rechaza la anterior.</a:t>
            </a:r>
          </a:p>
        </p:txBody>
      </p:sp>
      <p:sp>
        <p:nvSpPr>
          <p:cNvPr id="22" name="Oval 21"/>
          <p:cNvSpPr/>
          <p:nvPr/>
        </p:nvSpPr>
        <p:spPr>
          <a:xfrm>
            <a:off x="548640" y="4343400"/>
            <a:ext cx="146304" cy="146304"/>
          </a:xfrm>
          <a:prstGeom prst="ellipse">
            <a:avLst/>
          </a:prstGeom>
          <a:solidFill>
            <a:srgbClr val="141B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59536" y="4270248"/>
            <a:ext cx="10753344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141B4D"/>
                </a:solidFill>
                <a:latin typeface="Calibri"/>
              </a:rPr>
              <a:t>Núcleo de verificación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59536" y="4544568"/>
            <a:ext cx="10753344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0">
                <a:solidFill>
                  <a:srgbClr val="2B2D33"/>
                </a:solidFill>
                <a:latin typeface="Calibri"/>
              </a:rPr>
              <a:t>Librería propia que emite y verifica códigos por aplicación de autenticación, correo y SMS, con límites de intentos y protección contra reutilización del mismo código.</a:t>
            </a:r>
          </a:p>
        </p:txBody>
      </p:sp>
      <p:sp>
        <p:nvSpPr>
          <p:cNvPr id="25" name="Oval 24"/>
          <p:cNvSpPr/>
          <p:nvPr/>
        </p:nvSpPr>
        <p:spPr>
          <a:xfrm>
            <a:off x="548640" y="5184648"/>
            <a:ext cx="146304" cy="146304"/>
          </a:xfrm>
          <a:prstGeom prst="ellipse">
            <a:avLst/>
          </a:prstGeom>
          <a:solidFill>
            <a:srgbClr val="141B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59536" y="5111496"/>
            <a:ext cx="10753344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141B4D"/>
                </a:solidFill>
                <a:latin typeface="Calibri"/>
              </a:rPr>
              <a:t>Login con dos factores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59536" y="5385816"/>
            <a:ext cx="10753344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0">
                <a:solidFill>
                  <a:srgbClr val="2B2D33"/>
                </a:solidFill>
                <a:latin typeface="Calibri"/>
              </a:rPr>
              <a:t>El administrador entra con código. Quien no lo tenga configurado queda en la pantalla de alta y no puede navegar hasta completarla.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6D7282"/>
                </a:solidFill>
                <a:latin typeface="Calibri"/>
              </a:rPr>
              <a:t>MLMConqueror Global Edition  ·  Seguridad y 2FA  ·  2026-08-28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64240" y="6446520"/>
            <a:ext cx="548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6D7282"/>
                </a:solidFill>
                <a:latin typeface="Calibri"/>
              </a:rPr>
              <a:t>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1148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A07A1F"/>
                </a:solidFill>
                <a:latin typeface="Calibri"/>
              </a:rPr>
              <a:t>HALLAZGOS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85800"/>
            <a:ext cx="1106424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>
                <a:solidFill>
                  <a:srgbClr val="141B4D"/>
                </a:solidFill>
                <a:latin typeface="Georgia"/>
              </a:rPr>
              <a:t>Tres fallos que ya estaban ahí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481328"/>
            <a:ext cx="110642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0">
                <a:solidFill>
                  <a:srgbClr val="6D7282"/>
                </a:solidFill>
                <a:latin typeface="Calibri"/>
              </a:rPr>
              <a:t>Ninguno se buscaba. Aparecieron al construir encima y ninguno era visible desde fuera.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011680"/>
            <a:ext cx="3520440" cy="288036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DC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822960" y="2286000"/>
            <a:ext cx="384048" cy="384048"/>
          </a:xfrm>
          <a:prstGeom prst="ellipse">
            <a:avLst/>
          </a:prstGeom>
          <a:solidFill>
            <a:srgbClr val="B326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2340864"/>
            <a:ext cx="38404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2852928"/>
            <a:ext cx="29718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500" b="1">
                <a:solidFill>
                  <a:srgbClr val="141B4D"/>
                </a:solidFill>
                <a:latin typeface="Georgia"/>
              </a:rPr>
              <a:t>El código de verificación</a:t>
            </a:r>
          </a:p>
          <a:p>
            <a:pPr algn="l">
              <a:spcAft>
                <a:spcPts val="200"/>
              </a:spcAft>
            </a:pPr>
            <a:r>
              <a:rPr sz="1500" b="1">
                <a:solidFill>
                  <a:srgbClr val="141B4D"/>
                </a:solidFill>
                <a:latin typeface="Georgia"/>
              </a:rPr>
              <a:t>nunca pudo validarse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3703320"/>
            <a:ext cx="297180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2B2D33"/>
                </a:solidFill>
                <a:latin typeface="Calibri"/>
              </a:rPr>
              <a:t>El servicio rechazaba el mismo código que acababa de emitir, por un renombrado interno de datos. No se notó porque el correo tampoco se enviaba y la tabla de plantillas estaba vacía: tres fallos tapándose entre sí.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43400" y="2011680"/>
            <a:ext cx="3520440" cy="288036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DC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4617720" y="2286000"/>
            <a:ext cx="384048" cy="384048"/>
          </a:xfrm>
          <a:prstGeom prst="ellipse">
            <a:avLst/>
          </a:prstGeom>
          <a:solidFill>
            <a:srgbClr val="B326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617720" y="2340864"/>
            <a:ext cx="38404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17720" y="2852928"/>
            <a:ext cx="29718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500" b="1">
                <a:solidFill>
                  <a:srgbClr val="141B4D"/>
                </a:solidFill>
                <a:latin typeface="Georgia"/>
              </a:rPr>
              <a:t>El bloqueo por intentos</a:t>
            </a:r>
          </a:p>
          <a:p>
            <a:pPr algn="l">
              <a:spcAft>
                <a:spcPts val="200"/>
              </a:spcAft>
            </a:pPr>
            <a:r>
              <a:rPr sz="1500" b="1">
                <a:solidFill>
                  <a:srgbClr val="141B4D"/>
                </a:solidFill>
                <a:latin typeface="Georgia"/>
              </a:rPr>
              <a:t>fallidos no existía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17720" y="3703320"/>
            <a:ext cx="297180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2B2D33"/>
                </a:solidFill>
                <a:latin typeface="Calibri"/>
              </a:rPr>
              <a:t>Estaba configurado desde el principio —cinco intentos, quince minutos— pero el login nunca lo invocaba. En la práctica se podían probar contraseñas sin límite.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138160" y="2011680"/>
            <a:ext cx="3520440" cy="288036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DC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8412480" y="2286000"/>
            <a:ext cx="384048" cy="384048"/>
          </a:xfrm>
          <a:prstGeom prst="ellipse">
            <a:avLst/>
          </a:prstGeom>
          <a:solidFill>
            <a:srgbClr val="B326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412480" y="2340864"/>
            <a:ext cx="38404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412480" y="2852928"/>
            <a:ext cx="29718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500" b="1">
                <a:solidFill>
                  <a:srgbClr val="141B4D"/>
                </a:solidFill>
                <a:latin typeface="Georgia"/>
              </a:rPr>
              <a:t>Dos servicios rechazaban</a:t>
            </a:r>
          </a:p>
          <a:p>
            <a:pPr algn="l">
              <a:spcAft>
                <a:spcPts val="200"/>
              </a:spcAft>
            </a:pPr>
            <a:r>
              <a:rPr sz="1500" b="1">
                <a:solidFill>
                  <a:srgbClr val="141B4D"/>
                </a:solidFill>
                <a:latin typeface="Georgia"/>
              </a:rPr>
              <a:t>todo token legítimo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412480" y="3703320"/>
            <a:ext cx="297180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2B2D33"/>
                </a:solidFill>
                <a:latin typeface="Calibri"/>
              </a:rPr>
              <a:t>Billing y CommissionEngine verificaban firmas con un tipo de llave que no corresponde. Sus endpoints devolvían 401 a cualquier petición autenticada; el negocio no se vio afectado porque nadie los consumía por HTTP.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6D7282"/>
                </a:solidFill>
                <a:latin typeface="Calibri"/>
              </a:rPr>
              <a:t>MLMConqueror Global Edition  ·  Seguridad y 2FA  ·  2026-08-28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64240" y="6446520"/>
            <a:ext cx="548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6D7282"/>
                </a:solidFill>
                <a:latin typeface="Calibri"/>
              </a:rPr>
              <a:t>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1148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A07A1F"/>
                </a:solidFill>
                <a:latin typeface="Calibri"/>
              </a:rPr>
              <a:t>ESTADO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85800"/>
            <a:ext cx="1106424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>
                <a:solidFill>
                  <a:srgbClr val="141B4D"/>
                </a:solidFill>
                <a:latin typeface="Georgia"/>
              </a:rPr>
              <a:t>Desplegado, pero apagado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481328"/>
            <a:ext cx="110642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2B2D33"/>
                </a:solidFill>
                <a:latin typeface="Calibri"/>
              </a:rPr>
              <a:t>Todo el código está en master y no cambia nada para nadie todavía. Encenderlo tiene un orden, y saltárselo deja gente fuera del portal.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286000"/>
            <a:ext cx="1143000" cy="502920"/>
          </a:xfrm>
          <a:prstGeom prst="roundRect">
            <a:avLst>
              <a:gd name="adj" fmla="val 18000"/>
            </a:avLst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2404872"/>
            <a:ext cx="1143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50" b="1">
                <a:solidFill>
                  <a:srgbClr val="FFFFFF"/>
                </a:solidFill>
                <a:latin typeface="Calibri"/>
              </a:rPr>
              <a:t>Hoy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920240" y="2395728"/>
            <a:ext cx="96926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2B2D33"/>
                </a:solidFill>
                <a:latin typeface="Calibri"/>
              </a:rPr>
              <a:t>Enrolamiento obligatorio desactivado. Los códigos se escriben en el registro, no se envían.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3072384"/>
            <a:ext cx="1143000" cy="502920"/>
          </a:xfrm>
          <a:prstGeom prst="roundRect">
            <a:avLst>
              <a:gd name="adj" fmla="val 18000"/>
            </a:avLst>
          </a:prstGeom>
          <a:solidFill>
            <a:srgbClr val="141B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8640" y="3191256"/>
            <a:ext cx="1143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50" b="1">
                <a:solidFill>
                  <a:srgbClr val="FFFFFF"/>
                </a:solidFill>
                <a:latin typeface="Calibri"/>
              </a:rPr>
              <a:t>Paso 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920240" y="3182112"/>
            <a:ext cx="96926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2B2D33"/>
                </a:solidFill>
                <a:latin typeface="Calibri"/>
              </a:rPr>
              <a:t>Configurar las credenciales de correo y SMS en el entorno de producción.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3858768"/>
            <a:ext cx="1143000" cy="502920"/>
          </a:xfrm>
          <a:prstGeom prst="roundRect">
            <a:avLst>
              <a:gd name="adj" fmla="val 18000"/>
            </a:avLst>
          </a:prstGeom>
          <a:solidFill>
            <a:srgbClr val="141B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48640" y="3977640"/>
            <a:ext cx="1143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50" b="1">
                <a:solidFill>
                  <a:srgbClr val="FFFFFF"/>
                </a:solidFill>
                <a:latin typeface="Calibri"/>
              </a:rPr>
              <a:t>Paso 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920240" y="3968496"/>
            <a:ext cx="96926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2B2D33"/>
                </a:solidFill>
                <a:latin typeface="Calibri"/>
              </a:rPr>
              <a:t>Verificar que un correo y un mensaje llegan de verdad a una cuenta real.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48640" y="4645152"/>
            <a:ext cx="1143000" cy="502920"/>
          </a:xfrm>
          <a:prstGeom prst="roundRect">
            <a:avLst>
              <a:gd name="adj" fmla="val 18000"/>
            </a:avLst>
          </a:prstGeom>
          <a:solidFill>
            <a:srgbClr val="141B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48640" y="4764024"/>
            <a:ext cx="1143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50" b="1">
                <a:solidFill>
                  <a:srgbClr val="FFFFFF"/>
                </a:solidFill>
                <a:latin typeface="Calibri"/>
              </a:rPr>
              <a:t>Paso 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920240" y="4754880"/>
            <a:ext cx="96926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2B2D33"/>
                </a:solidFill>
                <a:latin typeface="Calibri"/>
              </a:rPr>
              <a:t>Rotar la llave de firma en producción, en ventana de mantenimiento.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48640" y="5431536"/>
            <a:ext cx="1143000" cy="502920"/>
          </a:xfrm>
          <a:prstGeom prst="roundRect">
            <a:avLst>
              <a:gd name="adj" fmla="val 18000"/>
            </a:avLst>
          </a:prstGeom>
          <a:solidFill>
            <a:srgbClr val="A07A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48640" y="5550408"/>
            <a:ext cx="1143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50" b="1">
                <a:solidFill>
                  <a:srgbClr val="FFFFFF"/>
                </a:solidFill>
                <a:latin typeface="Calibri"/>
              </a:rPr>
              <a:t>Paso 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920240" y="5541264"/>
            <a:ext cx="96926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2B2D33"/>
                </a:solidFill>
                <a:latin typeface="Calibri"/>
              </a:rPr>
              <a:t>Activar el enrolamiento obligatorio y avisar al equipo de administración.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6D7282"/>
                </a:solidFill>
                <a:latin typeface="Calibri"/>
              </a:rPr>
              <a:t>MLMConqueror Global Edition  ·  Seguridad y 2FA  ·  2026-08-28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64240" y="6446520"/>
            <a:ext cx="548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6D7282"/>
                </a:solidFill>
                <a:latin typeface="Calibri"/>
              </a:rPr>
              <a:t>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1148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A07A1F"/>
                </a:solidFill>
                <a:latin typeface="Calibri"/>
              </a:rPr>
              <a:t>RIESGOS ABIERTOS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85800"/>
            <a:ext cx="1106424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>
                <a:solidFill>
                  <a:srgbClr val="141B4D"/>
                </a:solidFill>
                <a:latin typeface="Georgia"/>
              </a:rPr>
              <a:t>Lo que todavía no está resuelto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783080"/>
            <a:ext cx="73152" cy="914400"/>
          </a:xfrm>
          <a:prstGeom prst="rect">
            <a:avLst/>
          </a:prstGeom>
          <a:solidFill>
            <a:srgbClr val="B326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1783080"/>
            <a:ext cx="107899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50" b="1">
                <a:solidFill>
                  <a:srgbClr val="141B4D"/>
                </a:solidFill>
                <a:latin typeface="Calibri"/>
              </a:rPr>
              <a:t>La llave anterior sigue en el historial del repositorio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2112264"/>
            <a:ext cx="1078992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0">
                <a:solidFill>
                  <a:srgbClr val="2B2D33"/>
                </a:solidFill>
                <a:latin typeface="Calibri"/>
              </a:rPr>
              <a:t>Se rotó y el sistema la rechaza, pero cualquiera con una copia antigua la tiene. Borrarla del historial exige reescribirlo y coordinar con todas las copias existentes.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2916936"/>
            <a:ext cx="73152" cy="914400"/>
          </a:xfrm>
          <a:prstGeom prst="rect">
            <a:avLst/>
          </a:prstGeom>
          <a:solidFill>
            <a:srgbClr val="B27A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2916936"/>
            <a:ext cx="107899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50" b="1">
                <a:solidFill>
                  <a:srgbClr val="141B4D"/>
                </a:solidFill>
                <a:latin typeface="Calibri"/>
              </a:rPr>
              <a:t>La entrega real de correos y mensajes no se ha probado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3246120"/>
            <a:ext cx="1078992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0">
                <a:solidFill>
                  <a:srgbClr val="2B2D33"/>
                </a:solidFill>
                <a:latin typeface="Calibri"/>
              </a:rPr>
              <a:t>Las pruebas automatizadas aíslan la llamada al proveedor. Que un mensaje llegue de verdad solo se comprueba con credenciales reales.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8640" y="4050792"/>
            <a:ext cx="73152" cy="914400"/>
          </a:xfrm>
          <a:prstGeom prst="rect">
            <a:avLst/>
          </a:prstGeom>
          <a:solidFill>
            <a:srgbClr val="B27A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68680" y="4050792"/>
            <a:ext cx="107899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50" b="1">
                <a:solidFill>
                  <a:srgbClr val="141B4D"/>
                </a:solidFill>
                <a:latin typeface="Calibri"/>
              </a:rPr>
              <a:t>Las traducciones no están revisadas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8680" y="4379976"/>
            <a:ext cx="1078992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0">
                <a:solidFill>
                  <a:srgbClr val="2B2D33"/>
                </a:solidFill>
                <a:latin typeface="Calibri"/>
              </a:rPr>
              <a:t>Los textos de las pantallas nuevas se tradujeron a los nueve idiomas siguiendo la terminología existente, pero ningún hablante nativo los ha revisado.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48640" y="5184648"/>
            <a:ext cx="73152" cy="914400"/>
          </a:xfrm>
          <a:prstGeom prst="rect">
            <a:avLst/>
          </a:prstGeom>
          <a:solidFill>
            <a:srgbClr val="B27A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68680" y="5184648"/>
            <a:ext cx="107899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50" b="1">
                <a:solidFill>
                  <a:srgbClr val="141B4D"/>
                </a:solidFill>
                <a:latin typeface="Calibri"/>
              </a:rPr>
              <a:t>El cambio de horario de verano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68680" y="5513832"/>
            <a:ext cx="1078992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0">
                <a:solidFill>
                  <a:srgbClr val="2B2D33"/>
                </a:solidFill>
                <a:latin typeface="Calibri"/>
              </a:rPr>
              <a:t>El sistema pasó a usar hora de servidor. En el cambio de otoño la misma hora ocurre dos veces, lo que afecta a lo que se ordena por fecha. No se ha abordado.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6D7282"/>
                </a:solidFill>
                <a:latin typeface="Calibri"/>
              </a:rPr>
              <a:t>MLMConqueror Global Edition  ·  Seguridad y 2FA  ·  2026-08-28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64240" y="6446520"/>
            <a:ext cx="548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6D7282"/>
                </a:solidFill>
                <a:latin typeface="Calibri"/>
              </a:rPr>
              <a:t>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1148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A07A1F"/>
                </a:solidFill>
                <a:latin typeface="Calibri"/>
              </a:rPr>
              <a:t>SIGUIENTE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85800"/>
            <a:ext cx="1106424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>
                <a:solidFill>
                  <a:srgbClr val="141B4D"/>
                </a:solidFill>
                <a:latin typeface="Georgia"/>
              </a:rPr>
              <a:t>Lo que queda por construir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737360"/>
            <a:ext cx="5486400" cy="352044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DC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2057400"/>
            <a:ext cx="475488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900" b="1">
                <a:solidFill>
                  <a:srgbClr val="141B4D"/>
                </a:solidFill>
                <a:latin typeface="Georgia"/>
              </a:rPr>
              <a:t>Superficie de cuenta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697480"/>
            <a:ext cx="4754880" cy="23774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700"/>
              </a:spcAft>
            </a:pPr>
            <a:r>
              <a:rPr sz="1300" b="0">
                <a:solidFill>
                  <a:srgbClr val="2B2D33"/>
                </a:solidFill>
                <a:latin typeface="Calibri"/>
              </a:rPr>
              <a:t>Recuperación de contraseña.</a:t>
            </a:r>
          </a:p>
          <a:p>
            <a:pPr algn="l">
              <a:spcAft>
                <a:spcPts val="700"/>
              </a:spcAft>
            </a:pPr>
            <a:r>
              <a:rPr sz="1300" b="0">
                <a:solidFill>
                  <a:srgbClr val="2B2D33"/>
                </a:solidFill>
                <a:latin typeface="Calibri"/>
              </a:rPr>
              <a:t>Confirmación de correo.</a:t>
            </a:r>
          </a:p>
          <a:p>
            <a:pPr algn="l">
              <a:spcAft>
                <a:spcPts val="700"/>
              </a:spcAft>
            </a:pPr>
            <a:r>
              <a:rPr sz="1300" b="0">
                <a:solidFill>
                  <a:srgbClr val="2B2D33"/>
                </a:solidFill>
                <a:latin typeface="Calibri"/>
              </a:rPr>
              <a:t>Alta y verificación de teléfono.</a:t>
            </a:r>
          </a:p>
          <a:p>
            <a:pPr algn="l">
              <a:spcAft>
                <a:spcPts val="700"/>
              </a:spcAft>
            </a:pPr>
            <a:r>
              <a:rPr sz="1300" b="0">
                <a:solidFill>
                  <a:srgbClr val="2B2D33"/>
                </a:solidFill>
                <a:latin typeface="Calibri"/>
              </a:rPr>
              <a:t>Gestión del segundo factor desde el perfil.</a:t>
            </a:r>
          </a:p>
          <a:p>
            <a:pPr algn="l">
              <a:spcAft>
                <a:spcPts val="700"/>
              </a:spcAft>
            </a:pPr>
            <a:r>
              <a:rPr sz="1300" b="0">
                <a:solidFill>
                  <a:srgbClr val="2B2D33"/>
                </a:solidFill>
                <a:latin typeface="Calibri"/>
              </a:rPr>
              <a:t>Datos personales y descarga.</a:t>
            </a:r>
          </a:p>
          <a:p>
            <a:pPr algn="l">
              <a:spcAft>
                <a:spcPts val="700"/>
              </a:spcAft>
            </a:pPr>
            <a:r>
              <a:rPr sz="1300" b="0">
                <a:solidFill>
                  <a:srgbClr val="2B2D33"/>
                </a:solidFill>
                <a:latin typeface="Calibri"/>
              </a:rPr>
              <a:t/>
            </a:r>
          </a:p>
          <a:p>
            <a:pPr algn="l">
              <a:spcAft>
                <a:spcPts val="700"/>
              </a:spcAft>
            </a:pPr>
            <a:r>
              <a:rPr sz="1300" b="0">
                <a:solidFill>
                  <a:srgbClr val="2B2D33"/>
                </a:solidFill>
                <a:latin typeface="Calibri"/>
              </a:rPr>
              <a:t>Hoy ninguna de estas pantallas existe en el portal de administración.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0" y="1737360"/>
            <a:ext cx="5212080" cy="3520440"/>
          </a:xfrm>
          <a:prstGeom prst="roundRect">
            <a:avLst>
              <a:gd name="adj" fmla="val 4000"/>
            </a:avLst>
          </a:prstGeom>
          <a:solidFill>
            <a:srgbClr val="141B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766560" y="2057400"/>
            <a:ext cx="448056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900" b="1">
                <a:solidFill>
                  <a:srgbClr val="FFFFFF"/>
                </a:solidFill>
                <a:latin typeface="Georgia"/>
              </a:rPr>
              <a:t>Confirmación en operaciones críticas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766560" y="2971800"/>
            <a:ext cx="4480560" cy="2103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700"/>
              </a:spcAft>
            </a:pPr>
            <a:r>
              <a:rPr sz="1300" b="0">
                <a:solidFill>
                  <a:srgbClr val="C8D0E8"/>
                </a:solidFill>
                <a:latin typeface="Calibri"/>
              </a:rPr>
              <a:t>Pedir un código antes de liberar un pago, cambiar un rol, tocar credenciales de cobro o ajustar datos de negocio de alto impacto.</a:t>
            </a:r>
          </a:p>
          <a:p>
            <a:pPr algn="l">
              <a:spcAft>
                <a:spcPts val="700"/>
              </a:spcAft>
            </a:pPr>
            <a:r>
              <a:rPr sz="1300" b="0">
                <a:solidFill>
                  <a:srgbClr val="C8D0E8"/>
                </a:solidFill>
                <a:latin typeface="Calibri"/>
              </a:rPr>
              <a:t/>
            </a:r>
          </a:p>
          <a:p>
            <a:pPr algn="l">
              <a:spcAft>
                <a:spcPts val="700"/>
              </a:spcAft>
            </a:pPr>
            <a:r>
              <a:rPr sz="1300" b="0">
                <a:solidFill>
                  <a:srgbClr val="C8D0E8"/>
                </a:solidFill>
                <a:latin typeface="Calibri"/>
              </a:rPr>
              <a:t>Qué operación lo exige y por qué canal se configura sin desplegar.</a:t>
            </a:r>
          </a:p>
          <a:p>
            <a:pPr algn="l">
              <a:spcAft>
                <a:spcPts val="700"/>
              </a:spcAft>
            </a:pPr>
            <a:r>
              <a:rPr sz="1300" b="0">
                <a:solidFill>
                  <a:srgbClr val="C8D0E8"/>
                </a:solidFill>
                <a:latin typeface="Calibri"/>
              </a:rPr>
              <a:t/>
            </a:r>
          </a:p>
          <a:p>
            <a:pPr algn="l">
              <a:spcAft>
                <a:spcPts val="700"/>
              </a:spcAft>
            </a:pPr>
            <a:r>
              <a:rPr sz="1300" b="0">
                <a:solidFill>
                  <a:srgbClr val="C8D0E8"/>
                </a:solidFill>
                <a:latin typeface="Calibri"/>
              </a:rPr>
              <a:t>Era la segunda mitad del encargo original y todavía no está construida.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0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2377440"/>
            <a:ext cx="100584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400" b="1">
                <a:solidFill>
                  <a:srgbClr val="FFFFFF"/>
                </a:solidFill>
                <a:latin typeface="Georgia"/>
              </a:rPr>
              <a:t>Preguntas</a:t>
            </a:r>
          </a:p>
        </p:txBody>
      </p:sp>
      <p:sp>
        <p:nvSpPr>
          <p:cNvPr id="4" name="Rectangle 3"/>
          <p:cNvSpPr/>
          <p:nvPr/>
        </p:nvSpPr>
        <p:spPr>
          <a:xfrm>
            <a:off x="822960" y="3429000"/>
            <a:ext cx="1280160" cy="45720"/>
          </a:xfrm>
          <a:prstGeom prst="rect">
            <a:avLst/>
          </a:prstGeom>
          <a:solidFill>
            <a:srgbClr val="C9A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3749039"/>
            <a:ext cx="96012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>
                <a:solidFill>
                  <a:srgbClr val="C8D0E8"/>
                </a:solidFill>
                <a:latin typeface="Calibri"/>
              </a:rPr>
              <a:t>Documentación de referencia:</a:t>
            </a:r>
          </a:p>
          <a:p>
            <a:pPr algn="l">
              <a:spcAft>
                <a:spcPts val="600"/>
              </a:spcAft>
            </a:pPr>
            <a:r>
              <a:rPr sz="1400" b="0">
                <a:solidFill>
                  <a:srgbClr val="C8D0E8"/>
                </a:solidFill>
                <a:latin typeface="Calibri"/>
              </a:rPr>
              <a:t>docs/deployment/verificacion-2fa.pdf  ·  qué comprobar y en qué orden</a:t>
            </a:r>
          </a:p>
          <a:p>
            <a:pPr algn="l">
              <a:spcAft>
                <a:spcPts val="600"/>
              </a:spcAft>
            </a:pPr>
            <a:r>
              <a:rPr sz="1400" b="0">
                <a:solidFill>
                  <a:srgbClr val="C8D0E8"/>
                </a:solidFill>
                <a:latin typeface="Calibri"/>
              </a:rPr>
              <a:t>docs/deployment/rotacion-llaves-jwt.pdf  ·  cómo rotar la llave en producción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