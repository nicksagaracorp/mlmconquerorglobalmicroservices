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0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424160" y="0"/>
            <a:ext cx="1764792" cy="502920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502920"/>
            <a:ext cx="502920" cy="1097280"/>
          </a:xfrm>
          <a:prstGeom prst="rect">
            <a:avLst/>
          </a:prstGeom>
          <a:solidFill>
            <a:srgbClr val="A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03A"/>
                </a:solidFill>
                <a:latin typeface="Calibri"/>
              </a:rPr>
              <a:t>DEVELOPMENT STATUS  ·  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MLMConqueror Global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9EEFA"/>
                </a:solidFill>
                <a:latin typeface="Georgia"/>
              </a:rPr>
              <a:t>Where we are, what we shipped, what comes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3840480" cy="36576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Sprint 15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9EEFA"/>
                </a:solidFill>
                <a:latin typeface="Calibri"/>
              </a:rPr>
              <a:t>2026-05-24  ·  Prepared for Client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E9EEFA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THE ARCHITECTURE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How the system fits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D7282"/>
                </a:solidFill>
                <a:latin typeface="Calibri"/>
              </a:rPr>
              <a:t>Five wings around one platform — member-facing apps, admin tools, business engines, the foundation, and infrastructure.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965960" y="2171699"/>
            <a:ext cx="4129887" cy="1531621"/>
          </a:xfrm>
          <a:prstGeom prst="line">
            <a:avLst/>
          </a:prstGeom>
          <a:ln w="28575">
            <a:solidFill>
              <a:srgbClr val="2C5F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95847" y="2171699"/>
            <a:ext cx="4099713" cy="1531621"/>
          </a:xfrm>
          <a:prstGeom prst="line">
            <a:avLst/>
          </a:prstGeom>
          <a:ln w="28575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65960" y="3703320"/>
            <a:ext cx="4129887" cy="662940"/>
          </a:xfrm>
          <a:prstGeom prst="line">
            <a:avLst/>
          </a:prstGeom>
          <a:ln w="28575">
            <a:solidFill>
              <a:srgbClr val="366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3703320"/>
            <a:ext cx="4099713" cy="662940"/>
          </a:xfrm>
          <a:prstGeom prst="line">
            <a:avLst/>
          </a:prstGeom>
          <a:ln w="28575">
            <a:solidFill>
              <a:srgbClr val="50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3703320"/>
            <a:ext cx="15087" cy="1851660"/>
          </a:xfrm>
          <a:prstGeom prst="line">
            <a:avLst/>
          </a:prstGeom>
          <a:ln w="28575">
            <a:solidFill>
              <a:srgbClr val="C9A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43000" y="2171699"/>
            <a:ext cx="822960" cy="617221"/>
          </a:xfrm>
          <a:prstGeom prst="line">
            <a:avLst/>
          </a:prstGeom>
          <a:ln w="12700">
            <a:solidFill>
              <a:srgbClr val="2C5F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171699"/>
            <a:ext cx="800100" cy="617221"/>
          </a:xfrm>
          <a:prstGeom prst="line">
            <a:avLst/>
          </a:prstGeom>
          <a:ln w="12700">
            <a:solidFill>
              <a:srgbClr val="2C5F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65960" y="2171699"/>
            <a:ext cx="68580" cy="1165861"/>
          </a:xfrm>
          <a:prstGeom prst="line">
            <a:avLst/>
          </a:prstGeom>
          <a:ln w="12700">
            <a:solidFill>
              <a:srgbClr val="2C5F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395460" y="2171699"/>
            <a:ext cx="800100" cy="617221"/>
          </a:xfrm>
          <a:prstGeom prst="line">
            <a:avLst/>
          </a:prstGeom>
          <a:ln w="12700">
            <a:solidFill>
              <a:srgbClr val="6D2E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60" y="2171699"/>
            <a:ext cx="822960" cy="617221"/>
          </a:xfrm>
          <a:prstGeom prst="line">
            <a:avLst/>
          </a:prstGeom>
          <a:ln w="12700">
            <a:solidFill>
              <a:srgbClr val="6D2E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95560" y="2171699"/>
            <a:ext cx="114300" cy="1165861"/>
          </a:xfrm>
          <a:prstGeom prst="line">
            <a:avLst/>
          </a:prstGeom>
          <a:ln w="12700">
            <a:solidFill>
              <a:srgbClr val="6D2E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14400" y="4366260"/>
            <a:ext cx="1051560" cy="617220"/>
          </a:xfrm>
          <a:prstGeom prst="line">
            <a:avLst/>
          </a:prstGeom>
          <a:ln w="12700">
            <a:solidFill>
              <a:srgbClr val="3665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65960" y="4366260"/>
            <a:ext cx="228600" cy="617220"/>
          </a:xfrm>
          <a:prstGeom prst="line">
            <a:avLst/>
          </a:prstGeom>
          <a:ln w="12700">
            <a:solidFill>
              <a:srgbClr val="3665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645920" y="4366260"/>
            <a:ext cx="320040" cy="1165860"/>
          </a:xfrm>
          <a:prstGeom prst="line">
            <a:avLst/>
          </a:prstGeom>
          <a:ln w="12700">
            <a:solidFill>
              <a:srgbClr val="3665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441180" y="4366260"/>
            <a:ext cx="754380" cy="617220"/>
          </a:xfrm>
          <a:prstGeom prst="line">
            <a:avLst/>
          </a:prstGeom>
          <a:ln w="12700">
            <a:solidFill>
              <a:srgbClr val="504A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95560" y="4366260"/>
            <a:ext cx="754380" cy="617220"/>
          </a:xfrm>
          <a:prstGeom prst="line">
            <a:avLst/>
          </a:prstGeom>
          <a:ln w="12700">
            <a:solidFill>
              <a:srgbClr val="504A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441180" y="4366260"/>
            <a:ext cx="754380" cy="1165860"/>
          </a:xfrm>
          <a:prstGeom prst="line">
            <a:avLst/>
          </a:prstGeom>
          <a:ln w="12700">
            <a:solidFill>
              <a:srgbClr val="504A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195560" y="4366260"/>
            <a:ext cx="754380" cy="1165860"/>
          </a:xfrm>
          <a:prstGeom prst="line">
            <a:avLst/>
          </a:prstGeom>
          <a:ln w="12700">
            <a:solidFill>
              <a:srgbClr val="504A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457699" y="5554980"/>
            <a:ext cx="1623061" cy="571500"/>
          </a:xfrm>
          <a:prstGeom prst="line">
            <a:avLst/>
          </a:prstGeom>
          <a:ln w="12700">
            <a:solidFill>
              <a:srgbClr val="C9A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5554980"/>
            <a:ext cx="91440" cy="571500"/>
          </a:xfrm>
          <a:prstGeom prst="line">
            <a:avLst/>
          </a:prstGeom>
          <a:ln w="12700">
            <a:solidFill>
              <a:srgbClr val="C9A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5554980"/>
            <a:ext cx="1691640" cy="571500"/>
          </a:xfrm>
          <a:prstGeom prst="line">
            <a:avLst/>
          </a:prstGeom>
          <a:ln w="12700">
            <a:solidFill>
              <a:srgbClr val="C9A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5554980"/>
            <a:ext cx="3246120" cy="571500"/>
          </a:xfrm>
          <a:prstGeom prst="line">
            <a:avLst/>
          </a:prstGeom>
          <a:ln w="12700">
            <a:solidFill>
              <a:srgbClr val="C9A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907127" y="3223260"/>
            <a:ext cx="2377440" cy="960120"/>
          </a:xfrm>
          <a:prstGeom prst="roundRect">
            <a:avLst/>
          </a:prstGeom>
          <a:solidFill>
            <a:srgbClr val="141B4D"/>
          </a:solidFill>
          <a:ln w="25400">
            <a:solidFill>
              <a:srgbClr val="C9A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MLMConqueror</a:t>
            </a:r>
          </a:p>
          <a:p>
            <a:pPr algn="ctr"/>
            <a:r>
              <a:rPr sz="1500" b="1">
                <a:solidFill>
                  <a:srgbClr val="C9A03A"/>
                </a:solidFill>
                <a:latin typeface="Georgia"/>
              </a:rPr>
              <a:t>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1874519"/>
            <a:ext cx="3108960" cy="594360"/>
          </a:xfrm>
          <a:prstGeom prst="round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Member-facing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560320"/>
            <a:ext cx="1463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C5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Signups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2560320"/>
            <a:ext cx="15087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C5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BizCenterWeb (Blazor)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3108960"/>
            <a:ext cx="1691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C5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BizCenter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1874519"/>
            <a:ext cx="3108960" cy="594360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Admin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2560320"/>
            <a:ext cx="15087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AdminWeb (Blazor)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87000" y="2560320"/>
            <a:ext cx="1463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AdminAPI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20" y="3108960"/>
            <a:ext cx="17830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SharedAPICenter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069080"/>
            <a:ext cx="3108960" cy="594360"/>
          </a:xfrm>
          <a:prstGeom prst="roundRect">
            <a:avLst/>
          </a:prstGeom>
          <a:solidFill>
            <a:srgbClr val="36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Foundation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4754880"/>
            <a:ext cx="10058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Domain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08760" y="4754880"/>
            <a:ext cx="13716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SharedKernel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5303520"/>
            <a:ext cx="24688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Repository (EF Core)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069080"/>
            <a:ext cx="3108960" cy="594360"/>
          </a:xfrm>
          <a:prstGeom prst="roundRect">
            <a:avLst/>
          </a:prstGeom>
          <a:solidFill>
            <a:srgbClr val="50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Data &amp; Infrastructure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475488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0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SQL Server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475488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0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Hangfire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530352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0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Redis (cache)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530352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04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Firebase (push)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60" y="5303520"/>
            <a:ext cx="3657600" cy="502920"/>
          </a:xfrm>
          <a:prstGeom prst="round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Business Engines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39" y="589788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A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RankEngine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5897880"/>
            <a:ext cx="1828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A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CommissionEngine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78040" y="5897880"/>
            <a:ext cx="11887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A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Billing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5897880"/>
            <a:ext cx="17373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A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141B4D"/>
                </a:solidFill>
                <a:latin typeface="Calibri"/>
              </a:rPr>
              <a:t>TicketMgmtSystem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A07A1F"/>
                </a:solidFill>
                <a:latin typeface="Calibri"/>
              </a:rPr>
              <a:t>Cross-cutting flow:  Signups  →  rank evaluation queue  →  rank promotion  →  certificate +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SERVICE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The 13 services and what each one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179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Pure entities, enums, business rules — zero external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SharedKernel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Result&lt;T&gt;, ApiResponse&lt;T&gt;, PagedResult, common interfaces.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79776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EF Core context, Fluent API configurations, audit interceptor, Unit of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38144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Signups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Ambassador + member registration, 3-phase wizard, placement, upgrade/downgrade.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96512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RankEngine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0740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Rank evaluation, qualification, certificate PDF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097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CommissionEngine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65776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Fast Start, Daily Residual, Boost, Presidential, Matching — all commission types.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13248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4681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24144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Payment gateways, recurring billing, dunning, commission-balance funding.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463040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15179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BizCenter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773936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Member-facing API: profile, wallet, billing, commissions, team, tokens, loyalty.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121408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BizCenterWeb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432304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Blazor MAUI Hybrid app for ambassadors and members.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779776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834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AdminAPI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090672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Admin operations: members, commissions, ghost points, config, dashboards.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438144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AdminWeb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74904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Blazor admin console — operations, configuration, member management.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096512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TicketMgmtSystem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40740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Helpdesk: tickets, comments, attachments, assignments, merges.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754880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48097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SharedAPICenter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065776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External webhooks (Stripe/Braintree/crypto) and integration endpoints.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413248"/>
            <a:ext cx="562356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54681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(Cross-cutting)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724144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Hangfire scheduler, Redis cache, Firebase push notifications, JWT auth.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END-TO-END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From signup to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D7282"/>
                </a:solidFill>
                <a:latin typeface="Calibri"/>
              </a:rPr>
              <a:t>The path a new ambassador's data travels — and how that triggers rank promotion and notifications downstream.</a:t>
            </a:r>
          </a:p>
        </p:txBody>
      </p:sp>
      <p:sp>
        <p:nvSpPr>
          <p:cNvPr id="9" name="Oval 8"/>
          <p:cNvSpPr/>
          <p:nvPr/>
        </p:nvSpPr>
        <p:spPr>
          <a:xfrm>
            <a:off x="1010412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Signup wizard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Member fills 3-phase wizard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(personal · placement · payment)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Signups 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066544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47188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9696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31136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Statistic 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MemberStatisticDelta enqueued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to stats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68296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68296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Queue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03320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83964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6472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67912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Apply deltas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Background job merges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deltas atomically into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upline statistics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5072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05072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Hangfire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340096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20740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13248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04688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Rank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Each modified upline is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enqueued for rank evaluation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41848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41848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Queue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976872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557516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50024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41464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Evaluate 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1464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EvaluateRankHandler checks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qualifications against thresholds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78624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RankEngine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613648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94292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78240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Promote + notify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MemberRankHistory row written;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notifications fan out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15400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RankEngine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0250424" y="3694176"/>
            <a:ext cx="73152" cy="128016"/>
          </a:xfrm>
          <a:prstGeom prst="rightArrow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831068" y="2011680"/>
            <a:ext cx="548640" cy="548640"/>
          </a:xfrm>
          <a:prstGeom prst="ellipse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41B4D"/>
                </a:solidFill>
                <a:latin typeface="Georgia"/>
              </a:rPr>
              <a:t>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23576" y="2395728"/>
            <a:ext cx="1563624" cy="2724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15016" y="2670048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Certificate on demand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15016" y="3218688"/>
            <a:ext cx="138074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PDF generated when member or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B2D33"/>
                </a:solidFill>
                <a:latin typeface="Calibri"/>
              </a:rPr>
              <a:t>admin requests 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52176" y="4727448"/>
            <a:ext cx="1106424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52176" y="4764024"/>
            <a:ext cx="11064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C9A03A"/>
                </a:solidFill>
                <a:latin typeface="Calibri"/>
              </a:rPr>
              <a:t>RankEngine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532120"/>
            <a:ext cx="11155680" cy="777240"/>
          </a:xfrm>
          <a:prstGeom prst="round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B4D"/>
                </a:solidFill>
                <a:latin typeface="Georgia"/>
              </a:rPr>
              <a:t>Why this matters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9592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Steps 2-7 are decoupled. A spike of signups never blocks rank evaluation, and rank evaluation never blocks the user's response. Each stage scales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CAPACITY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Load-test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D7282"/>
                </a:solidFill>
                <a:latin typeface="Calibri"/>
              </a:rPr>
              <a:t>Eleven waves of progressively heavier signups under one test ambassador (peak 2,453 in the downline).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32588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9280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Wave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828800"/>
            <a:ext cx="292608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1892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828800"/>
            <a:ext cx="77724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9280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828800"/>
            <a:ext cx="100584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Wall-clock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828800"/>
            <a:ext cx="118872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9280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 dirty="0">
                <a:solidFill>
                  <a:srgbClr val="C9A03A"/>
                </a:solidFill>
                <a:latin typeface="Calibri"/>
              </a:rPr>
              <a:t>Throughput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1828800"/>
            <a:ext cx="100584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80" y="1892808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828800"/>
            <a:ext cx="1188720" cy="3657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189280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alibri"/>
              </a:rPr>
              <a:t>Cascades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94560"/>
            <a:ext cx="13258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2258568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Silver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194560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01952" y="2258568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4 sequential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194560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2258568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2194560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05272" y="2258568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19456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2258568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80" y="2194560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9832" y="2258568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19456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05672" y="2258568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523744"/>
            <a:ext cx="13258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2587752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Gold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2523744"/>
            <a:ext cx="29260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01952" y="2587752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 sequential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2523744"/>
            <a:ext cx="7772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28032" y="2587752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2523744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05272" y="2587752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~1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2523744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2587752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~0.2/s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2523744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99832" y="2587752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2523744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05672" y="2587752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2852928"/>
            <a:ext cx="13258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2916936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Platinum/Titanium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2852928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901952" y="2916936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various sequential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2852928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28032" y="2916936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15-90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32120" y="2852928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05272" y="2916936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minutes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2852928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11112" y="2916936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80" y="2852928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99832" y="2916936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2852928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05672" y="2916936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3182112"/>
            <a:ext cx="13258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6072" y="3246120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Jade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3182112"/>
            <a:ext cx="29260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901952" y="3246120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5 waves, 10→200 conc, 20 sponsors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3182112"/>
            <a:ext cx="7772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28032" y="3246120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420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2120" y="3182112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605272" y="3246120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~17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60" y="3182112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11112" y="3246120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30/s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26680" y="3182112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99832" y="3246120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3182112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805672" y="3246120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0 (gated)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511296"/>
            <a:ext cx="13258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76072" y="3575304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Pearl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0" y="3511296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901952" y="3575304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300 conc, 50 sponsors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0" y="3511296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28032" y="3575304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32120" y="3511296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05272" y="3575304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9.21 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3511296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11112" y="3575304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32.6/s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26680" y="3511296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99832" y="3575304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99.7%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32520" y="3511296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805672" y="3575304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0 (gated)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3840480"/>
            <a:ext cx="13258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" y="3904488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Emerald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0" y="3840480"/>
            <a:ext cx="29260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901952" y="3904488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200 conc, 50 sponsors, branches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3840480"/>
            <a:ext cx="7772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828032" y="3904488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32120" y="3840480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05272" y="3904488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8.83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37960" y="3840480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611112" y="3904488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22.7/s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26680" y="3840480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799832" y="3904488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99.5%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732520" y="3840480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805672" y="3904488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0 (gated)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920" y="4169664"/>
            <a:ext cx="13258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76072" y="4233672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Ruby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8800" y="4169664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901952" y="4233672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400 conc, 80 sponsors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54880" y="4169664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828032" y="4233672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400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32120" y="4169664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605272" y="4233672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14.24 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37960" y="4169664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611112" y="4233672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28.1/s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26680" y="4169664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799832" y="4233672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732520" y="4169664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805672" y="4233672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0 (gated)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02920" y="4498848"/>
            <a:ext cx="13258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76072" y="4562856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Sapphire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28800" y="4498848"/>
            <a:ext cx="292608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901952" y="4562856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350 conc, 69 sponsors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754880" y="4498848"/>
            <a:ext cx="7772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828032" y="4562856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350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532120" y="4498848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605272" y="4562856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12.08 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37960" y="4498848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611112" y="4562856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29.0/s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726680" y="4498848"/>
            <a:ext cx="100584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99832" y="4562856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98.9%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732520" y="4498848"/>
            <a:ext cx="1188720" cy="329184"/>
          </a:xfrm>
          <a:prstGeom prst="rect">
            <a:avLst/>
          </a:prstGeom>
          <a:solidFill>
            <a:srgbClr val="E9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805672" y="4562856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0 (gated)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4828032"/>
            <a:ext cx="13258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76072" y="4892040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Diamond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0" y="4828032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901952" y="4892040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350×1 max-spread (post cascade-fix)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754880" y="4828032"/>
            <a:ext cx="777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828032" y="4892040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350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32120" y="4828032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605272" y="4892040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17.30 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537960" y="482803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611112" y="4892040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20.2/s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26680" y="4828032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799832" y="4892040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100%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732520" y="482803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805672" y="4892040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B2D33"/>
                </a:solidFill>
                <a:latin typeface="Calibri"/>
              </a:rPr>
              <a:t>205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2920" y="5157216"/>
            <a:ext cx="132588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76072" y="5221224"/>
            <a:ext cx="11795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B4D"/>
                </a:solidFill>
                <a:latin typeface="Calibri"/>
              </a:rPr>
              <a:t>Double Diamond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828800" y="5157216"/>
            <a:ext cx="292608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901952" y="5221224"/>
            <a:ext cx="27797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350×1 (post eventual-consistency)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54880" y="5157216"/>
            <a:ext cx="77724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828032" y="5221224"/>
            <a:ext cx="6309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350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532120" y="5157216"/>
            <a:ext cx="100584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605272" y="5221224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11.92 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37960" y="5157216"/>
            <a:ext cx="118872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611112" y="5221224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29.4/s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726680" y="5157216"/>
            <a:ext cx="100584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799832" y="5221224"/>
            <a:ext cx="85953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100%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732520" y="5157216"/>
            <a:ext cx="1188720" cy="329184"/>
          </a:xfrm>
          <a:prstGeom prst="rect">
            <a:avLst/>
          </a:prstGeom>
          <a:solidFill>
            <a:srgbClr val="FBF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805672" y="5221224"/>
            <a:ext cx="104241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033"/>
                </a:solidFill>
                <a:latin typeface="Calibri"/>
              </a:rPr>
              <a:t>54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02920" y="5669280"/>
            <a:ext cx="11155680" cy="6400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5800" y="57607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03A"/>
                </a:solidFill>
                <a:latin typeface="Calibri"/>
              </a:rPr>
              <a:t>Inflection point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85800" y="5980176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After the eventual-consistency rewrite, the worst-case max-spread pattern improved from 17.3s to 11.9s wall-clock — a 31% drop — at higher cascade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Architectural improvements landed this 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Atomic statistics MERGE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Replaced read-modify-write on upline statistics with a single `MERGE … WITH (HOLDLOCK)`. Zero lost updates verified under 421 concurrent writers.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0876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508760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7830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10312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Breadth-first 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606040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Binary tree placement uses BFS to find the first empty slot — no more 78-level deep chains that crashed the SQL Server B-tree index.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50876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9016" y="1508760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178308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0312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External-members cascade unlock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606040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Removed the seeded `ExternalMembers = 1` requirement that was silently blocking every cascade rank promotion. Cascades now light up as expected.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13632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913632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87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0799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Eventual-consistency stats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10912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Signups return in 50-200 ms; upline statistics propagate via Hangfire within ≤60 s. Decoupled the user response from heavy upline 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913632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5968" y="3913632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4187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50799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Intermediate-rank chains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010912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When stats jump past several ranks at once, the engine now promotes through each intermediate rank in order — no rank skipped.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3913632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29016" y="3913632"/>
            <a:ext cx="548640" cy="164592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66176" y="4187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07A1F"/>
                </a:solidFill>
                <a:latin typeface="Georgia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50799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On-demand certificate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5010912"/>
            <a:ext cx="3429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B2D33"/>
                </a:solidFill>
                <a:latin typeface="Calibri"/>
              </a:rPr>
              <a:t>Certificates render only when a member or admin opens them — avoids generating 200+ PDFs synchronously during a cascade wave.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PRODUCTION POSTURE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What this capacity means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703320" cy="20116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703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C9A03A"/>
                </a:solidFill>
                <a:latin typeface="Georgia"/>
              </a:rPr>
              <a:t>30/s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sustained signups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9EEFA"/>
                </a:solidFill>
                <a:latin typeface="Calibri"/>
              </a:rPr>
              <a:t>at 350 concurrent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54480"/>
            <a:ext cx="3703320" cy="20116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737360"/>
            <a:ext cx="3703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C9A03A"/>
                </a:solidFill>
                <a:latin typeface="Georgia"/>
              </a:rPr>
              <a:t>2.6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74320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signups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0632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9EEFA"/>
                </a:solidFill>
                <a:latin typeface="Calibri"/>
              </a:rPr>
              <a:t>if sustained 24h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554480"/>
            <a:ext cx="3703320" cy="20116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9016" y="1737360"/>
            <a:ext cx="37033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C9A03A"/>
                </a:solidFill>
                <a:latin typeface="Georg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274320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failures under cascade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30632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9EEFA"/>
                </a:solidFill>
                <a:latin typeface="Calibri"/>
              </a:rPr>
              <a:t>350 max-spread waves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164592" cy="2331720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B4D"/>
                </a:solidFill>
                <a:latin typeface="Georgia"/>
              </a:rPr>
              <a:t>Context: how this compares to the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98848"/>
            <a:ext cx="1060704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D33"/>
                </a:solidFill>
                <a:latin typeface="Calibri"/>
              </a:rPr>
              <a:t>At 30 signups per second sustained, the platform handles 108,000 new ambassadors per hour. The largest MLM companies globally process about 10,000 signups per day at peak. Our pipeline can absorb a day of their growth in under six minutes — and we have not yet pushed past the rate-limiter cap to find a real collapse point. The bottleneck under realistic load (signups distributed across many sponsors) is upline statistics propagation, which the new eventual-consistency pipeline now handles asynchronously and atomically.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RISKS &amp;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Decisions pending and watch-items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11556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280160" cy="292608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73352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Certificate generation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1168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On-demand (current) vs. auto-generate at promotion. On-demand is cheaper at scale; auto-generate is simpler for members. Needs a UX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111556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1280160" cy="292608"/>
          </a:xfrm>
          <a:prstGeom prst="roundRect">
            <a:avLst/>
          </a:prstGeom>
          <a:solidFill>
            <a:srgbClr val="A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95351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07792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Dashboard freshness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4612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Under the new eventual-consistency model, admin dashboards can lag the live tree by up to 60 seconds. Acceptable for ops; needs to be communicated.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40"/>
            <a:ext cx="111556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4160520"/>
            <a:ext cx="1280160" cy="292608"/>
          </a:xfrm>
          <a:prstGeom prst="round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8795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142232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Hangfire cross-queue poisoning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8056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Recurring jobs can get parked on the wrong queue when a service restarts before re-registering. Needs a defensive startup guard.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111556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9E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5394960"/>
            <a:ext cx="1280160" cy="29260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42239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376672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4D"/>
                </a:solidFill>
                <a:latin typeface="Georgia"/>
              </a:rPr>
              <a:t>External-customer rank axis removed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1500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The business rule that required external (non-Ambassador) members in the downline for rank qualification was lifted. Confirm this is the intended product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828800" cy="411480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502920" cy="411480"/>
          </a:xfrm>
          <a:prstGeom prst="rect">
            <a:avLst/>
          </a:prstGeom>
          <a:solidFill>
            <a:srgbClr val="A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03A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Questions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9EEFA"/>
                </a:solidFill>
                <a:latin typeface="Georgia"/>
              </a:rPr>
              <a:t>Where would you like to focus the next sprint?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9EEFA"/>
                </a:solidFill>
                <a:latin typeface="Calibri"/>
              </a:rPr>
              <a:t>Suggested topics:  certificate policy  ·  remaining ranks  ·  production deployment plan  ·  R2 frontend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E9EEF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MLMConqueror Global Edition  ·  Sprint 15 Review  ·  2026-05-24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D7282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07A1F"/>
                </a:solidFill>
                <a:latin typeface="Calibr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4D"/>
                </a:solidFill>
                <a:latin typeface="Georgia"/>
              </a:rPr>
              <a:t>Reference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4D"/>
                </a:solidFill>
                <a:latin typeface="Georgia"/>
              </a:rPr>
              <a:t>Service ports (development)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Signups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90195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92938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5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RankEngine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22199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24942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59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CommissionEngine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54203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56946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46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Billing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86207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7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BizCenter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18211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320954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47471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BizCenterWeb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50215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352958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7106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9475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AdminAPI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82219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384962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1479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AdminWeb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414223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0" y="416966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7107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348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TicketMgmtSystem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446227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0" y="448970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75487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SharedAPICenter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4782311"/>
            <a:ext cx="1188720" cy="256032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0" y="480974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C9A03A"/>
                </a:solidFill>
                <a:latin typeface="Consolas"/>
              </a:rPr>
              <a:t>7013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4D"/>
                </a:solidFill>
                <a:latin typeface="Georgia"/>
              </a:rPr>
              <a:t>Test suites (Sprint 15)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87451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Domain.Tests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187451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86 passing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19455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Repository.Tests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19455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D7282"/>
                </a:solidFill>
                <a:latin typeface="Calibri"/>
              </a:rPr>
              <a:t>covered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51459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Signups.Tests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51459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300 passing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8346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RankEngine.Tests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834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122 passing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15467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CommissionEngine.Tests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15467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67 passing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47471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Billing.Tests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47471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124 passing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79475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BizCenter.Tests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79475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142 passing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11479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AdminAPI.Tests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11479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313 passing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4348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2D33"/>
                </a:solidFill>
                <a:latin typeface="Calibri"/>
              </a:rPr>
              <a:t>TicketManagement.Tests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4348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32"/>
                </a:solidFill>
                <a:latin typeface="Calibri"/>
              </a:rPr>
              <a:t>45 passing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75487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2D33"/>
                </a:solidFill>
                <a:latin typeface="Calibri"/>
              </a:rPr>
              <a:t>Total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58400" y="4782311"/>
            <a:ext cx="1463040" cy="256032"/>
          </a:xfrm>
          <a:prstGeom prst="round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58400" y="4809743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41B4D"/>
                </a:solidFill>
                <a:latin typeface="Calibri"/>
              </a:rPr>
              <a:t>900+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1308</Words>
  <Application>Microsoft Office PowerPoint</Application>
  <PresentationFormat>Widescreen</PresentationFormat>
  <Paragraphs>299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.</cp:lastModifiedBy>
  <cp:revision>2</cp:revision>
  <dcterms:created xsi:type="dcterms:W3CDTF">2013-01-27T09:14:16Z</dcterms:created>
  <dcterms:modified xsi:type="dcterms:W3CDTF">2026-05-25T13:33:22Z</dcterms:modified>
  <cp:category/>
</cp:coreProperties>
</file>